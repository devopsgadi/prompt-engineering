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93592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2514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&amp; Continuity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/digital/servicing/customer-dashboard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31920" y="914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4937760" cy="36576"/>
          </a:xfrm>
          <a:prstGeom prst="rect">
            <a:avLst/>
          </a:prstGeom>
          <a:solidFill>
            <a:srgbClr val="007A94"/>
          </a:solidFill>
          <a:ln w="12700">
            <a:solidFill>
              <a:srgbClr val="007A9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0" y="1600200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96512" y="1618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Uninterrupted access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96512" y="18928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stay online even when primary systems fail — no error pages, no lost sessions.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0" y="2404872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96512" y="2423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intervention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96512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is automatic. No on-call engineer needs to flip a switch at 2 AM.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3209544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96512" y="32278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Dual-environment resilience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96512" y="35021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routes between Azure Cloud and On-Premises data centre, whichever is healthy.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31920" y="4014216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96512" y="40325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confidence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96512" y="43068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operational resilience to auditors and risk committees.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49286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APPROVAL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724912" cy="3840480"/>
          </a:xfrm>
          <a:prstGeom prst="rect">
            <a:avLst/>
          </a:prstGeom>
          <a:solidFill>
            <a:srgbClr val="F4F8F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2724912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97280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93192" y="171907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89888" y="2258568"/>
            <a:ext cx="4572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359152"/>
            <a:ext cx="24505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if the Azure cloud environment becomes unavailable, the Customer Dashboard goes down entirely — affecting all active digital banking sessions.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63824" y="1005840"/>
            <a:ext cx="2724912" cy="3840480"/>
          </a:xfrm>
          <a:prstGeom prst="rect">
            <a:avLst/>
          </a:prstGeom>
          <a:solidFill>
            <a:srgbClr val="F4F8F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63824" y="1005840"/>
            <a:ext cx="272491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1097280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⏱️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00984" y="171907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Recovery = Slow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2258568"/>
            <a:ext cx="457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0984" y="2359152"/>
            <a:ext cx="24505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automation, engineering teams must detect the outage, diagnose, and manually redirect traffic. This can take 15–45 minutes of visible downtime.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71616" y="1005840"/>
            <a:ext cx="2724912" cy="3840480"/>
          </a:xfrm>
          <a:prstGeom prst="rect">
            <a:avLst/>
          </a:prstGeom>
          <a:solidFill>
            <a:srgbClr val="F4F8F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1005840"/>
            <a:ext cx="2724912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1616" y="1097280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📉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208776" y="171907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Reputational Risk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05472" y="2258568"/>
            <a:ext cx="45720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2359152"/>
            <a:ext cx="24505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brief outages during peak hours can trigger customer complaints, regulatory scrutiny, and loss of trust in the digital channel.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·  What Triggers Failover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" y="914400"/>
            <a:ext cx="1417320" cy="914400"/>
          </a:xfrm>
          <a:prstGeom prst="rect">
            <a:avLst/>
          </a:prstGeom>
          <a:solidFill>
            <a:srgbClr val="F4F8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914400"/>
            <a:ext cx="14173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9875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" y="15087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65960" y="914400"/>
            <a:ext cx="1417320" cy="914400"/>
          </a:xfrm>
          <a:prstGeom prst="rect">
            <a:avLst/>
          </a:prstGeom>
          <a:solidFill>
            <a:srgbClr val="F4F8FB"/>
          </a:solidFill>
          <a:ln w="12700">
            <a:solidFill>
              <a:srgbClr val="009B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65960" y="914400"/>
            <a:ext cx="1417320" cy="54864"/>
          </a:xfrm>
          <a:prstGeom prst="rect">
            <a:avLst/>
          </a:prstGeom>
          <a:solidFill>
            <a:srgbClr val="009BDE"/>
          </a:solidFill>
          <a:ln w="12700">
            <a:solidFill>
              <a:srgbClr val="009B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9875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Akamai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15087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9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CDN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67328" y="914400"/>
            <a:ext cx="1417320" cy="914400"/>
          </a:xfrm>
          <a:prstGeom prst="rect">
            <a:avLst/>
          </a:prstGeom>
          <a:solidFill>
            <a:srgbClr val="F4F8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67328" y="914400"/>
            <a:ext cx="14173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9875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T2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67328" y="15087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77840" y="914400"/>
            <a:ext cx="1417320" cy="914400"/>
          </a:xfrm>
          <a:prstGeom prst="rect">
            <a:avLst/>
          </a:prstGeom>
          <a:solidFill>
            <a:srgbClr val="F4F8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77840" y="914400"/>
            <a:ext cx="141732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9875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15087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81912" y="1389888"/>
            <a:ext cx="3840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01368" y="12710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81912" y="11430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83280" y="1389888"/>
            <a:ext cx="3840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12710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83280" y="11430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166360" y="1389888"/>
            <a:ext cx="3840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85816" y="12710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66360" y="11430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39412" y="1828800"/>
            <a:ext cx="0" cy="50292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347972" y="22037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▼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67428" y="2029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67328" y="2331720"/>
            <a:ext cx="1417320" cy="914400"/>
          </a:xfrm>
          <a:prstGeom prst="rect">
            <a:avLst/>
          </a:prstGeom>
          <a:solidFill>
            <a:srgbClr val="F4F8F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67328" y="2331720"/>
            <a:ext cx="141732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67328" y="240487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67328" y="29260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DC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0" y="960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🔁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99248" y="978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switch-over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0" y="1417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👁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699248" y="1435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0" y="1874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699248" y="1892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0" y="23317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699248" y="2350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exposed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2807208"/>
            <a:ext cx="8595360" cy="36576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28620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E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TRIGGERS FAILOVER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657600" y="286207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8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automatic, no human action required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6032" y="3127248"/>
            <a:ext cx="2029968" cy="1783080"/>
          </a:xfrm>
          <a:prstGeom prst="rect">
            <a:avLst/>
          </a:prstGeom>
          <a:solidFill>
            <a:srgbClr val="F4F8F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56032" y="3127248"/>
            <a:ext cx="2029968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" y="3182112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347472" y="363016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Failure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47472" y="395935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endpoint unreachable — network or cloud region outage.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432304" y="3127248"/>
            <a:ext cx="2029968" cy="1783080"/>
          </a:xfrm>
          <a:prstGeom prst="rect">
            <a:avLst/>
          </a:prstGeom>
          <a:solidFill>
            <a:srgbClr val="F4F8F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432304" y="3127248"/>
            <a:ext cx="202996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32304" y="3182112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2523744" y="363016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Timeout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2523744" y="395935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exceeds 5–10s response threshold.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08576" y="3127248"/>
            <a:ext cx="2029968" cy="1783080"/>
          </a:xfrm>
          <a:prstGeom prst="rect">
            <a:avLst/>
          </a:prstGeom>
          <a:solidFill>
            <a:srgbClr val="F4F8FB"/>
          </a:solidFill>
          <a:ln w="12700">
            <a:solidFill>
              <a:srgbClr val="E879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08576" y="3127248"/>
            <a:ext cx="2029968" cy="4572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08576" y="3182112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4700016" y="363016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Error (5xx)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700016" y="395935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returns 500/502/503 — app crash or deployment.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784848" y="3127248"/>
            <a:ext cx="2029968" cy="1783080"/>
          </a:xfrm>
          <a:prstGeom prst="rect">
            <a:avLst/>
          </a:prstGeom>
          <a:solidFill>
            <a:srgbClr val="F4F8FB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784848" y="3127248"/>
            <a:ext cx="2029968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84848" y="3182112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💓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6876288" y="363016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Probe Failure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876288" y="395935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endpoint returns unhealthy — pre-emptive detection.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56032" y="4919472"/>
            <a:ext cx="8631936" cy="128016"/>
          </a:xfrm>
          <a:prstGeom prst="rect">
            <a:avLst/>
          </a:prstGeom>
          <a:solidFill>
            <a:srgbClr val="E8F5E9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928616"/>
            <a:ext cx="8321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 Recovery is also automatic — once Azure is healthy, traffic is gradually restored without any manual steps.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 During Failover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517904"/>
            <a:ext cx="0" cy="640080"/>
          </a:xfrm>
          <a:prstGeom prst="line">
            <a:avLst/>
          </a:prstGeom>
          <a:noFill/>
          <a:ln w="19050">
            <a:solidFill>
              <a:srgbClr val="D0DDE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40080" y="1207008"/>
            <a:ext cx="77724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0700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1887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becomes unavailable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151790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detects failed health check or connection error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157984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" y="2414016"/>
            <a:ext cx="0" cy="640080"/>
          </a:xfrm>
          <a:prstGeom prst="line">
            <a:avLst/>
          </a:prstGeom>
          <a:noFill/>
          <a:ln w="19050">
            <a:solidFill>
              <a:srgbClr val="D0DDE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" y="2103120"/>
            <a:ext cx="77724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03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T+5s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20848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decision made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241401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automatically stops routing traffic to Azure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54096"/>
            <a:ext cx="256032" cy="25603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3310128"/>
            <a:ext cx="0" cy="640080"/>
          </a:xfrm>
          <a:prstGeom prst="line">
            <a:avLst/>
          </a:prstGeom>
          <a:noFill/>
          <a:ln w="19050">
            <a:solidFill>
              <a:srgbClr val="D0DDE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0080" y="2999232"/>
            <a:ext cx="777240" cy="3200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9923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T+6s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54480" y="298094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shifts to On-Premises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33101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new requests routed to internal data centre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950208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895344"/>
            <a:ext cx="77724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953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T+10s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54480" y="387705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fully restored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54480" y="42062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experience no interruption — sessions remain active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Customer impact: Near-zero. Active sessions are preserved. No login required. No error page displayed.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Approval For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841248"/>
          </a:xfrm>
          <a:prstGeom prst="rect">
            <a:avLst/>
          </a:prstGeom>
          <a:solidFill>
            <a:srgbClr val="F4F8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94360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Change Approval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904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 the NGINX T2 failover configuration to be deployed to the production environment for /digital/servicing/customer-dashboard.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8595360" cy="841248"/>
          </a:xfrm>
          <a:prstGeom prst="rect">
            <a:avLst/>
          </a:prstGeom>
          <a:solidFill>
            <a:srgbClr val="F4F8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11680"/>
            <a:ext cx="594360" cy="8412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11680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Record Delegation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45059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DNS ownership split — downstream (digitalbanking.us.bank-dns.com) managed by Akamai, upstream (digitalbanking.azr.bank-dns.com) managed by NGINX T2.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8595360" cy="841248"/>
          </a:xfrm>
          <a:prstGeom prst="rect">
            <a:avLst/>
          </a:prstGeom>
          <a:solidFill>
            <a:srgbClr val="F4F8F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71800"/>
            <a:ext cx="594360" cy="8412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71800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063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Connectivity Sign-off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41071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On-Premises data centre connectivity and capacity are validated as a live fallback destination, not a cold standby.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931920"/>
            <a:ext cx="8595360" cy="841248"/>
          </a:xfrm>
          <a:prstGeom prst="rect">
            <a:avLst/>
          </a:prstGeom>
          <a:solidFill>
            <a:srgbClr val="F4F8FB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931920"/>
            <a:ext cx="594360" cy="8412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931920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4023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Test Scheduling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37083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scheduled failover drill (off-peak window) to validate end-to-end automatic switching before go-live.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Dashboard – Failover Approach</dc:title>
  <dc:subject>PptxGenJS Presentation</dc:subject>
  <dc:creator>PptxGenJS</dc:creator>
  <cp:lastModifiedBy>PptxGenJS</cp:lastModifiedBy>
  <cp:revision>1</cp:revision>
  <dcterms:created xsi:type="dcterms:W3CDTF">2026-05-29T19:38:02Z</dcterms:created>
  <dcterms:modified xsi:type="dcterms:W3CDTF">2026-05-29T19:38:02Z</dcterms:modified>
</cp:coreProperties>
</file>